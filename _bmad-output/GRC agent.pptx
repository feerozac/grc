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37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</a:rPr>
              <a:t>Agentic AI GRC Platform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2E8F0"/>
                </a:solidFill>
              </a:rPr>
              <a:t>C‑Suite Outcome Brief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Agentic AI GRC · Audit‑ready, regulator‑friendly, time‑saving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5303520"/>
            <a:ext cx="4389120" cy="91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From Human Intent to Audit‑Ready Output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651760"/>
            <a:ext cx="1097280" cy="13716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148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Human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Intent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2286000"/>
            <a:ext cx="1828800" cy="18288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926080"/>
            <a:ext cx="1828800" cy="182880"/>
          </a:xfrm>
          <a:prstGeom prst="line">
            <a:avLst/>
          </a:prstGeom>
          <a:noFill/>
          <a:ln w="25400">
            <a:solidFill>
              <a:srgbClr val="A85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3566160"/>
            <a:ext cx="1828800" cy="18288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2011680"/>
            <a:ext cx="1097280" cy="12801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2240280"/>
            <a:ext cx="457200" cy="45720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697480"/>
            <a:ext cx="64008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2011680"/>
            <a:ext cx="1097280" cy="12801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2240280"/>
            <a:ext cx="457200" cy="4572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97880" y="2697480"/>
            <a:ext cx="64008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0" y="2011680"/>
            <a:ext cx="1097280" cy="12801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34D3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240280"/>
            <a:ext cx="457200" cy="4572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2360" y="2697480"/>
            <a:ext cx="64008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0" y="34747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Agentic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Robots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26880" y="1828800"/>
            <a:ext cx="1828800" cy="2011680"/>
          </a:xfrm>
          <a:prstGeom prst="rect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09760" y="2194560"/>
            <a:ext cx="14630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2560320"/>
            <a:ext cx="14630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0" y="2926080"/>
            <a:ext cx="14630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0" y="3931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Paper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09760" y="4480560"/>
            <a:ext cx="457200" cy="4572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49840" y="4937760"/>
            <a:ext cx="457200" cy="4572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89920" y="4480560"/>
            <a:ext cx="457200" cy="45720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38360" y="4709160"/>
            <a:ext cx="502920" cy="320040"/>
          </a:xfrm>
          <a:prstGeom prst="line">
            <a:avLst/>
          </a:prstGeom>
          <a:noFill/>
          <a:ln w="12700">
            <a:solidFill>
              <a:srgbClr val="A85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78440" y="4937760"/>
            <a:ext cx="457200" cy="182880"/>
          </a:xfrm>
          <a:prstGeom prst="line">
            <a:avLst/>
          </a:prstGeom>
          <a:noFill/>
          <a:ln w="12700">
            <a:solidFill>
              <a:srgbClr val="A855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0" y="5440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Processes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Vision — Outcomes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Audit‑Ready, Fast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From scattered evidence to board‑ready reporting in hours, not weeks.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Accountable by Design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Human‑validated decisions with clear 1L/2L/3L ownership and audit trails.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Regulator‑Friendly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Explainable, traceable outputs aligned to changing requirements.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Vision — Governance Exoskeleton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Strategy In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Ingest exec statements, board papers, and strategy documents.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Governance Translated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Objectives → policies → standards → org/process mapping.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Proof 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Metrics to logs: KCIs/KRIs/KPIs tied to evidence.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Three Themes — The Experience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Explainability by Design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Ethics‑encoded agents. Every decision is transparent and auditable.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GRC with Personality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Agents collaborate with teams — not just automate tasks.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Metrics Made Human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Numbers translated into actions leaders can trust.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Governance Exoskeleton — Round‑Trip 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1417320" cy="91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Strategy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Inputs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7568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7627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1920240"/>
            <a:ext cx="141732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5915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Gov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Objectives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2160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2219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1920240"/>
            <a:ext cx="1417320" cy="91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0507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Policies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6752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6811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77840" y="1920240"/>
            <a:ext cx="141732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5099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Standards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&amp; Controls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1344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1403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0" y="1920240"/>
            <a:ext cx="1417320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Org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Process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5936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5995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6968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69680" y="1920240"/>
            <a:ext cx="141732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283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Metrics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KCI/KRI/KPI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305288" y="2377440"/>
            <a:ext cx="192024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05872" y="2304288"/>
            <a:ext cx="109728" cy="146304"/>
          </a:xfrm>
          <a:prstGeom prst="triangl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515600" y="1920240"/>
            <a:ext cx="1417320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15600" y="1920240"/>
            <a:ext cx="1417320" cy="91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588752" y="2176272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Evidence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</a:rPr>
              <a:t>&amp; Logs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Round‑trip governance: intent → objectives → controls → proof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Problem — The Cost of Fragmentation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Slow &amp; Reactive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Audit prep is manual; reporting cycles lag regulatory change.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Low Confidence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Evidence is scattered; governance decisions are hard to explain.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Misaligned Metrics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KRIs/KPIs exist but aren’t tied to strategy or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Why Agents Now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Specialist Scarcity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Risk and compliance teams are costly and stretched.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Human Judgement, Amplified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Agents absorb repetitive work; experts focus on decisions.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Always‑On Governance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Continuous oversight replaces quarterly scramble cycles.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Solution — How Outcomes Happen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Single Source of Truth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Risk, controls, issues, and evidence in one place — always audit‑ready.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Human‑in‑the‑Loop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Checkpoints and escalation keep accountability while agents automate work.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Regulatory Intelligence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Near real‑time change ingestion and automated gap prioritisation.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Business Value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188720"/>
            <a:ext cx="420624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HOURS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Board‑ready in hours, not weeks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62179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Time saved: reporting cycles cut dramatically.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Risk reduced: earlier detection, faster remediation.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Regulatory confidence: explainable, traceable outputs.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Cost avoidance: fewer manual hours and less compliance overhead.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Board confidence: clear, consistent narratives and priorities.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Metrics made human: actions, not just numbers.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Regulator Confidence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Immutable Audit Trails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Tamper‑evident records of AI decisions and control actions.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Explainability by Design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Plain‑language + technical rationale, ethics‑encoded.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Traceable Evidence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Mapped to controls and requirements with real‑time updates.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Board‑Defensible by Design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Accountability Built‑In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Human‑in‑the‑loop checkpoints for high‑risk actions.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Explainability at Scale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Decisions are transparent, reproducible, and auditable.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Automation Without Dilution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Work is automated while governance rigor stays intact.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Liability &amp; Accountability Framework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AI Assists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AI outputs are recommendations, not decisions. Every material action requires human approval.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Human Decides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Role-appropriate reviewer validates high-risk outputs. No rubber-stamping.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Customer Owns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Contractual clarity: AI assists, human decides, customer owns outcome. Regulator-aligned.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6-Layer Explainability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97280"/>
            <a:ext cx="539496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1–2: Transparency + Audit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Every AI recommendation: sources, confidence, reasoning chain. Immutable tamper-evident logs.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097280"/>
            <a:ext cx="539496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3–4: Review + Thresholds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High-risk = qualified reviewer. Low-confidence = mandatory human drafting.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539496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5: Regulator-Ready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On-demand reports: plain language (board) + technical (auditor). NIST/ISO/EU AI Act aligned.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566160"/>
            <a:ext cx="539496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6: Continuous Monitoring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7512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Drift detection, periodic human audits, bias checks. ISO 42001 PDCA cycle.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Standards Alignment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NIST AI RMF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Govern → Map → Measure → Manage. US baseline. Launch alignment.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ISO/IEC 42001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AI Management System. Certifiable. Year 1 target.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MAS / HKMA / EU AI Act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APAC financial services + EU transparency requirements. Sandbox participation.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Shark Tank: Key Challenges Addressed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97280"/>
            <a:ext cx="10972800" cy="5303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Enterprise trust: Regulator sandbox + Big 4 partnership + ISO cert + cyber insurance backing.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 liability: Accountability by design — human decides, AI assists, immutable audit trail.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Incumbent fast-follow: 18-24 month moat; architecture debt; data model lock-in.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Unit economics: Mid-market wedge + PLG lead gen + channel leverage + APAC focus.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Differentiation proof: 60-second annual report demo — IBM can't do step 1.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Competitive Landscape (Snapshot)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972800" cy="512064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572000"/>
              </a:tblGrid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2E8F0"/>
                          </a:solidFill>
                        </a:rPr>
                        <a:t>Vendor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2E8F0"/>
                          </a:solidFill>
                        </a:rPr>
                        <a:t>Strength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2E8F0"/>
                          </a:solidFill>
                        </a:rPr>
                        <a:t>Gap vs Proposal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</a:rPr>
                        <a:t>IBM OpenPages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Agentic AI + enterprise 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No org‑mapping; no doc‑driven governance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</a:rPr>
                        <a:t>ServiceNow GRC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AI orchestration + integrations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3LOD not first‑class; no exoskeleton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</a:rPr>
                        <a:t>AuditBoard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AI‑first + evidence automation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No org‑mapping; KRI/KPI not agent‑driven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</a:rPr>
                        <a:t>Diligent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Board reporting + AI suite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No strategy→governance mapping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2E8F0"/>
                          </a:solidFill>
                        </a:rPr>
                        <a:t>MetricStream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Regulatory intelligence (750+)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No APAC 24h SLA; no doc‑governance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Why They Can’t Copy Fast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Architecture Debt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Incumbents built for workflows, not agent‑first governance.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APAC Focus Gap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HKMA/MAS near‑real‑time intelligence is under‑served.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Governance Exoskeleton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Strategy→objectives→policies→metrics→logs is a new data model.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Competitive Moat — 18‑24 Month Lead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97280"/>
            <a:ext cx="539496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Agent‑First Architecture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18+ months. Incumbents must rearchitect core, not add features.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097280"/>
            <a:ext cx="539496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3LOD Persona Engine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12+ months. Distinct 1L/2L/3L behaviors with challenge flows.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539496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Strategy‑to‑Metrics Lineage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18+ months. Schema changes break existing deployments.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566160"/>
            <a:ext cx="539496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APAC Regulatory Feed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7512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12+ months. HKMA/MAS 24h SLA. Relationship‑driven moat.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Go‑to‑Market Trust Strategy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Regulator Endorsement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MAS/HKMA GenAI Sandbox participation. 'Regulator‑vetted' positioning.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Big 4 Partnership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Deloitte/KPMG/PwC implementation alliance. Trust transfer via brand.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Insurance + Certification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ISO 42001 cert + cyber insurer AI GRC coverage add‑on.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Go‑to‑Market Economics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Mid‑Market Wedge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500‑2000 employees. 3‑6 month cycles. Land‑and‑expand.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PLG Lead Gen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Free 'Governance Health Check' — upload annual report → gap analysis → upsell.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Channel Leverage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Big 4 / regional consultancies sell &amp; implement. Platform fee + services split.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The 60‑Second Demo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188720"/>
            <a:ext cx="420624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60s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Proof of differentiation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62179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1. Upload your annual report.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2. Extracted strategic priorities.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3. Mapped governance objectives.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4. Suggested KCIs with confidence scores.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5. Gap analysis against HKMA guidelines.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IBM can't do step 1.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SWOT — Agentic AI GRC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97280"/>
            <a:ext cx="539496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Strengths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Org‑mapping, doc‑governance, first‑class 3LOD, agent‑driven priorities, APAC 24h SLA.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09728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097280"/>
            <a:ext cx="539496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Weaknesses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New entrant, fewer integrations, credibility to establish.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539496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Opportunities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AI adoption surge, APAC regtech demand, 3LOD gap in market.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3566160"/>
            <a:ext cx="539496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566160"/>
            <a:ext cx="539496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Threats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75120" y="4251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Incumbent lock‑in, fast‑followers, procurement bias.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Proposal 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188720"/>
            <a:ext cx="420624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9.5/10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Best fit to the vision vs incumbents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62179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Unique differentiators: org‑mapping, doc‑governance, agent‑driven KRI/KPI, first‑class 3LOD.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Near real‑time APAC regulatory intelligence.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Main gap: market presence — solved via lighthouse customers.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Accountability by Design (3LOD)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280160"/>
            <a:ext cx="10789920" cy="1234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280160"/>
            <a:ext cx="164592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447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3L — Independent Assurance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874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Audit plan · Control testing · Findings · Assurance opinion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788920"/>
            <a:ext cx="10789920" cy="1234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788920"/>
            <a:ext cx="164592" cy="1234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9535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2L — Oversight &amp; Challenge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Risk oversight · Challenge flow · Priorities &amp; metrics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297680"/>
            <a:ext cx="10789920" cy="1234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97680"/>
            <a:ext cx="164592" cy="1234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4622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1L — Operational Ownership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Controls · Evidence · Issues · Attestations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Who It Serves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C‑Suite &amp; Board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Clear, consistent, regulator‑friendly reporting and priorities.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Risk &amp; Compliance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Faster cycles, fewer surprises, evidence‑ready assurance.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Regulatory Affairs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Near real‑time change tracking and impact visibility.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Core Use Cases (1–6)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97280"/>
            <a:ext cx="10972800" cy="5303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1. Board‑ready reporting on demand.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2. Regulatory change ingestion + instant gap analysis.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3. Evidence mapped to controls and requirements.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4. End‑to‑end remediation tracking with accountability.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5. Human‑validated escalation for high‑risk decisions.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6. 3LOD views with challenge flow and audit trails.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Outcome Use Cases (7–11)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97280"/>
            <a:ext cx="10972800" cy="5303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</a:rPr>
              <a:t>7. Governance ROI dashboards and maturity benchmarking.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8. Predictive risk horizon scanning (SEC, HKMA, EU Digital Act).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9. Governance fit assessment vs COBIT/NIST/PCI DSS/ISO 27k.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10. Ethics scoring and socially responsible governance decisions.</a:t>
            </a:r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11. Org‑aligned ownership with process‑to‑org mapping.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Assurance &amp; Compliance Posture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88720"/>
            <a:ext cx="347472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Audit‑Proof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Tamper‑evident trails; optional blockchain ledger.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188720"/>
            <a:ext cx="347472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Explainable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Regulator‑ready reports with plain + technical rationale.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188720"/>
            <a:ext cx="34747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188720"/>
            <a:ext cx="3474720" cy="1097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17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Secure &amp; Resilient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874520"/>
            <a:ext cx="3108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Encryption, RBAC by 3LOD, 99.5% availability.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37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</a:rPr>
              <a:t>Agentic AI GRC Platform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2E8F0"/>
                </a:solidFill>
              </a:rPr>
              <a:t>Thank you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Agentic AI GRC Platform · Product vision for roadmap, epics, and NFRs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5303520"/>
            <a:ext cx="4389120" cy="91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GRC Platform — Product Brief</dc:title>
  <dc:subject>Product Brief Summary</dc:subject>
  <dc:creator>Mark</dc:creator>
  <cp:lastModifiedBy>Mark</cp:lastModifiedBy>
  <cp:revision>1</cp:revision>
  <dcterms:created xsi:type="dcterms:W3CDTF">2026-02-01T08:47:27Z</dcterms:created>
  <dcterms:modified xsi:type="dcterms:W3CDTF">2026-02-01T08:47:27Z</dcterms:modified>
</cp:coreProperties>
</file>